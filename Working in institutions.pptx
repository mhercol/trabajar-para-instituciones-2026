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gfixjbukHI9EJNQyK3pjbysTkC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1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24" name="Google Shape;24;p13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 extrusionOk="0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69803"/>
              </a:schemeClr>
            </a:solidFill>
            <a:ln>
              <a:noFill/>
            </a:ln>
          </p:spPr>
        </p:sp>
        <p:cxnSp>
          <p:nvCxnSpPr>
            <p:cNvPr id="25" name="Google Shape;25;p13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13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" name="Google Shape;27;p1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28" name="Google Shape;28;p13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9" name="Google Shape;29;p1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13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31" name="Google Shape;31;p13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32" name="Google Shape;32;p13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33" name="Google Shape;33;p13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13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5" name="Google Shape;65;p18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6" name="Google Shape;66;p18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2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21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9" name="Google Shape;99;p23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03" name="Google Shape;103;p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 b="0" i="0" u="none" strike="noStrike" cap="non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23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 b="0" i="0" u="none" strike="noStrike" cap="non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4" name="Google Shape;114;p25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18" name="Google Shape;118;p25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 b="0" i="0" u="none" strike="noStrike" cap="non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25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 b="0" i="0" u="none" strike="noStrike" cap="none">
                <a:solidFill>
                  <a:srgbClr val="9EDFF5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6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3" name="Google Shape;123;p26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7"/>
          <p:cNvSpPr txBox="1">
            <a:spLocks noGrp="1"/>
          </p:cNvSpPr>
          <p:nvPr>
            <p:ph type="body" idx="1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0" name="Google Shape;130;p2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8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6" name="Google Shape;136;p2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2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1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" name="Google Shape;8;p12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chemeClr val="accent1">
                  <a:alpha val="6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" name="Google Shape;9;p12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5686"/>
              </a:schemeClr>
            </a:solidFill>
            <a:ln>
              <a:noFill/>
            </a:ln>
          </p:spPr>
        </p:sp>
        <p:sp>
          <p:nvSpPr>
            <p:cNvPr id="10" name="Google Shape;10;p12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1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2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B0E3">
                <a:alpha val="49803"/>
              </a:srgbClr>
            </a:solidFill>
            <a:ln>
              <a:noFill/>
            </a:ln>
          </p:spPr>
        </p:sp>
        <p:sp>
          <p:nvSpPr>
            <p:cNvPr id="13" name="Google Shape;13;p12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69803"/>
              </a:schemeClr>
            </a:solidFill>
            <a:ln>
              <a:noFill/>
            </a:ln>
          </p:spPr>
        </p:sp>
        <p:sp>
          <p:nvSpPr>
            <p:cNvPr id="14" name="Google Shape;14;p12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292">
                <a:alpha val="80000"/>
              </a:srgbClr>
            </a:solidFill>
            <a:ln>
              <a:noFill/>
            </a:ln>
          </p:spPr>
        </p:sp>
        <p:sp>
          <p:nvSpPr>
            <p:cNvPr id="15" name="Google Shape;15;p12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rgbClr val="16B0E3">
                <a:alpha val="6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2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6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1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pso.europa.eu/job-opportunities/traineeships_en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ailto:Miguel.herrero-collantes@eeas.europa.eu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</a:pPr>
            <a:r>
              <a:rPr lang="es-ES"/>
              <a:t>Instituciones Europeas</a:t>
            </a:r>
            <a:endParaRPr/>
          </a:p>
        </p:txBody>
      </p:sp>
      <p:sp>
        <p:nvSpPr>
          <p:cNvPr id="144" name="Google Shape;144;p1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s-ES"/>
              <a:t>Una carrera en Europa para Ingenieros IT</a:t>
            </a:r>
            <a:endParaRPr/>
          </a:p>
        </p:txBody>
      </p:sp>
      <p:pic>
        <p:nvPicPr>
          <p:cNvPr id="145" name="Google Shape;14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0901" y="4599282"/>
            <a:ext cx="2599267" cy="1734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>
            <a:spLocks noGrp="1"/>
          </p:cNvSpPr>
          <p:nvPr>
            <p:ph type="title" idx="4294967295"/>
          </p:nvPr>
        </p:nvSpPr>
        <p:spPr>
          <a:xfrm>
            <a:off x="0" y="793750"/>
            <a:ext cx="88201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ES"/>
              <a:t>Quien soy</a:t>
            </a:r>
            <a:endParaRPr/>
          </a:p>
        </p:txBody>
      </p:sp>
      <p:sp>
        <p:nvSpPr>
          <p:cNvPr id="151" name="Google Shape;151;p2"/>
          <p:cNvSpPr txBox="1">
            <a:spLocks noGrp="1"/>
          </p:cNvSpPr>
          <p:nvPr>
            <p:ph type="body" idx="4294967295"/>
          </p:nvPr>
        </p:nvSpPr>
        <p:spPr>
          <a:xfrm>
            <a:off x="0" y="1936750"/>
            <a:ext cx="882015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3080" lvl="0" indent="-3430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s-ES" sz="1800" b="0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Miguel Herrero Collantes.</a:t>
            </a:r>
            <a:endParaRPr sz="1800" b="0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3080" lvl="0" indent="-34308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•"/>
            </a:pPr>
            <a:r>
              <a:rPr lang="es-ES" sz="1800" b="0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Ingeniero técnico de telecomunicación Sistemas electrónicos</a:t>
            </a:r>
            <a:endParaRPr sz="1800" b="0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3080" lvl="0" indent="-34308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•"/>
            </a:pPr>
            <a:r>
              <a:rPr lang="es-ES" sz="1800" b="0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Ingeniero de Telecomunicación.</a:t>
            </a:r>
            <a:endParaRPr sz="1800" b="0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endParaRPr sz="1800" b="0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3080" lvl="0" indent="-34308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•"/>
            </a:pPr>
            <a:r>
              <a:rPr lang="es-ES" sz="1800" b="0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Responsable de Seguridad de red de EEAS (Bruselas).</a:t>
            </a:r>
            <a:endParaRPr sz="1800" b="0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3080" lvl="0" indent="-34308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•"/>
            </a:pPr>
            <a:r>
              <a:rPr lang="es-ES" sz="1800" b="0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Analista de SOC en el Consejo de la UE (Bruselas) (2017-2021).</a:t>
            </a:r>
            <a:endParaRPr sz="1800" b="0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3080" lvl="0" indent="-34308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•"/>
            </a:pPr>
            <a:r>
              <a:rPr lang="es-ES" sz="1800" b="0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Consultor de ciberseguridad para empresas financieras (2015-2019).</a:t>
            </a:r>
            <a:endParaRPr sz="1800" b="0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3080" lvl="0" indent="-34308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Arial"/>
              <a:buChar char="•"/>
            </a:pPr>
            <a:r>
              <a:rPr lang="es-ES" sz="1800" b="0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Técnico de ciberseguridad de Incibe (2011-2017).</a:t>
            </a:r>
            <a:endParaRPr sz="1800" b="0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sz="1800" b="0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57240" lvl="0" indent="-572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</a:pPr>
            <a:r>
              <a:rPr lang="es-ES" sz="1800" b="0" strike="noStrik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Correo electrónico: mhercol[@]gmail[.]com</a:t>
            </a:r>
            <a:endParaRPr sz="1800" b="0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p2" descr="Detective smurf-273x3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7471800" y="415080"/>
            <a:ext cx="1669680" cy="1836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" descr="European External Action Service - Wikip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56400" y="1708200"/>
            <a:ext cx="1669680" cy="108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" descr="Council of the European Union - Wikipedia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41800" y="2972160"/>
            <a:ext cx="1298520" cy="11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" descr="INCIBE apuesta por la compra pública innovadora para la detección de webs  ilícitas usadas por los ciberdelincuentes | Lawyerpress NEWS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79360" y="4264920"/>
            <a:ext cx="1823760" cy="118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ES"/>
              <a:t>Las Instituciones Europeas</a:t>
            </a:r>
            <a:endParaRPr/>
          </a:p>
        </p:txBody>
      </p:sp>
      <p:pic>
        <p:nvPicPr>
          <p:cNvPr id="161" name="Google Shape;16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4927" y="2925161"/>
            <a:ext cx="4449075" cy="344372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Hay 7 instituciones, 7 Órganos y más de 30 Agencias repartidas por Europa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Las instituciones y Órganos, entre Bruselas, Estrasburgo y Luxemburgo.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Las Agencias repartidas en Europa. 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Mas de 60.000 trabajadores (32k solo en EC)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En muchas de ellas hay necesidades IT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Despliegue de Infraestructura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Compliance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Ciberseguridad (CERT EU e Instituciones)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Helpdesk y soporte al usuario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Soporte a misiones en el extranjero</a:t>
            </a:r>
            <a:endParaRPr/>
          </a:p>
          <a:p>
            <a:pPr marL="742950" lvl="1" indent="-204469" algn="l" rtl="0">
              <a:spcBef>
                <a:spcPts val="1000"/>
              </a:spcBef>
              <a:spcAft>
                <a:spcPts val="0"/>
              </a:spcAft>
              <a:buSzPts val="1280"/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ES"/>
              <a:t>Panorama tecnológico</a:t>
            </a:r>
            <a:endParaRPr/>
          </a:p>
        </p:txBody>
      </p:sp>
      <p:sp>
        <p:nvSpPr>
          <p:cNvPr id="168" name="Google Shape;168;p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784166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Las Instituciones despliegan y mantienen las últimas tecnologías.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Se lanzan procesos de selección para tecnologías de futuro, como la computación cuántica.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En general, tenemos de todo para jugar e intentamos tener tecnología de vanguardia.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Aunque, por supuesto, también tenemos legacy.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ES"/>
              <a:t>Como entrar en las instituciones</a:t>
            </a:r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Generalmente hay cuatro formas de entrar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Funcionario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Agente contractual / Agente temporal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Externo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Becario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ES"/>
              <a:t>Funcionarios</a:t>
            </a:r>
            <a:endParaRPr/>
          </a:p>
        </p:txBody>
      </p:sp>
      <p:sp>
        <p:nvSpPr>
          <p:cNvPr id="180" name="Google Shape;180;p6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4173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79999"/>
              <a:buChar char="►"/>
            </a:pPr>
            <a:r>
              <a:rPr lang="es-ES" dirty="0"/>
              <a:t>Deben pasar un proceso de competición a través de la EPSO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 dirty="0"/>
              <a:t>El proceso no es muy difícil, pero es exigente. Pueden tardar 2 años en resolverse.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 dirty="0"/>
              <a:t>Se miden tanto </a:t>
            </a:r>
            <a:r>
              <a:rPr lang="es-ES" dirty="0" err="1"/>
              <a:t>hard</a:t>
            </a:r>
            <a:r>
              <a:rPr lang="es-ES" dirty="0"/>
              <a:t> </a:t>
            </a:r>
            <a:r>
              <a:rPr lang="es-ES" dirty="0" err="1"/>
              <a:t>skills</a:t>
            </a:r>
            <a:r>
              <a:rPr lang="es-ES" dirty="0"/>
              <a:t> como </a:t>
            </a:r>
            <a:r>
              <a:rPr lang="es-ES" dirty="0" err="1"/>
              <a:t>soft</a:t>
            </a:r>
            <a:r>
              <a:rPr lang="es-ES" dirty="0"/>
              <a:t> </a:t>
            </a:r>
            <a:r>
              <a:rPr lang="es-ES" dirty="0" err="1"/>
              <a:t>skills</a:t>
            </a:r>
            <a:r>
              <a:rPr lang="es-ES" dirty="0"/>
              <a:t>. </a:t>
            </a:r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n-GB" dirty="0" err="1"/>
              <a:t>Actualmente</a:t>
            </a:r>
            <a:r>
              <a:rPr lang="en-GB" dirty="0"/>
              <a:t> </a:t>
            </a:r>
            <a:r>
              <a:rPr lang="en-GB" dirty="0" err="1"/>
              <a:t>en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pausa</a:t>
            </a:r>
            <a:r>
              <a:rPr lang="en-GB" dirty="0"/>
              <a:t> para “</a:t>
            </a:r>
            <a:r>
              <a:rPr lang="en-GB" dirty="0" err="1"/>
              <a:t>repensar</a:t>
            </a:r>
            <a:r>
              <a:rPr lang="en-GB" dirty="0"/>
              <a:t>”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proceso</a:t>
            </a:r>
            <a:r>
              <a:rPr lang="en-GB" dirty="0"/>
              <a:t>.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s-ES" dirty="0"/>
              <a:t>3 categorías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 dirty="0"/>
              <a:t>AD: Puestos de administración. Puede ser AD generalista (graduados) o Especialistas (7+ años de experiencia).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 dirty="0"/>
              <a:t>AST: Puestos técnicos específicos (suelen pedir años de experiencia también).</a:t>
            </a:r>
            <a:endParaRPr dirty="0"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 dirty="0"/>
              <a:t>AST/SC: Apoyo a la dirección y conserjes.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s-ES" dirty="0"/>
              <a:t>En la última convocatoria de AD generalista se presentaron 28k personas para 158 plazas (6k no eran seleccionables). 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s-ES" dirty="0"/>
              <a:t>Es requisito necesario B2 en Inglés, Francés o Alemán. 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s-ES" dirty="0"/>
              <a:t>Los salarios son públicos y se pueden consultar (AD generalista ronda los 5000€ + beneficios)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ES"/>
              <a:t>Agentes contractuales y temporales</a:t>
            </a:r>
            <a:endParaRPr/>
          </a:p>
        </p:txBody>
      </p:sp>
      <p:sp>
        <p:nvSpPr>
          <p:cNvPr id="186" name="Google Shape;186;p7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Deben pasar un proceso de competición a través de la EPSO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Más sencillo que para funcionarios.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Para Agentes contractuales hay procesos abiertos casi permanentemente.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La selección se hace en base a las necesidades.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El currículo se incorpora en una BBDD y los servicios realizan selección sobre ella.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Para Agentes temporales se abren de forma específica y son para puestos especializados.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El contrato tiene duración temporal, según el puesto (normalmente 4+2).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En Agencias los Contractuales pueden ser indefinidos.  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Tienen beneficios similares a los funcionarios.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Diferentes perspectivas de carrera y posibilidad de ascenso</a:t>
            </a:r>
            <a:endParaRPr/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ES"/>
              <a:t>Externo</a:t>
            </a:r>
            <a:endParaRPr/>
          </a:p>
        </p:txBody>
      </p:sp>
      <p:sp>
        <p:nvSpPr>
          <p:cNvPr id="192" name="Google Shape;192;p8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No están contratados directamente por las instituciones sino por consultoras u otras empresas.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Pueden ser contratados por los proveedores.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Autónomos subcontratados.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Realizan sus funciones en las Instituciones o Agencias. 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Salarios dependiendo del trabajo, el campo y el tipo de contrato con la consultora.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ES"/>
              <a:t>Becarios</a:t>
            </a:r>
            <a:endParaRPr/>
          </a:p>
        </p:txBody>
      </p:sp>
      <p:sp>
        <p:nvSpPr>
          <p:cNvPr id="198" name="Google Shape;198;p9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Varios programas de becas. 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Las Agencias suelen ofrecer sus propios programas.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https://epso.europa.eu/job-opportunities/traineeships_en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s-ES"/>
              <a:t>Las Instituciones tienen uno propio: BlueBook Traineship.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Desde 2016 a 2020 ha habido 111964 solicitantes.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Tasa de éxito 5.8% (1625 becarios año).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Mayoría de solicitantes de RI o Ciencias políticas.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En los últimos 4 años, solo ha habido </a:t>
            </a:r>
            <a:r>
              <a:rPr lang="es-ES" b="1"/>
              <a:t>20 becarios con títulos IT ☹.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ts val="1280"/>
              <a:buChar char="►"/>
            </a:pPr>
            <a:r>
              <a:rPr lang="es-ES"/>
              <a:t>Se pueden solicitar tantas veces como se quiera, mientras se cumplan los requisitos.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ES"/>
              <a:t>Becarios</a:t>
            </a:r>
            <a:endParaRPr/>
          </a:p>
        </p:txBody>
      </p:sp>
      <p:sp>
        <p:nvSpPr>
          <p:cNvPr id="204" name="Google Shape;204;p10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79999"/>
              <a:buChar char="►"/>
            </a:pPr>
            <a:r>
              <a:rPr lang="es-ES"/>
              <a:t>Requisitos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/>
              <a:t>Haber completado un grado de al menos 3 años.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/>
              <a:t>No tener experiencia previa de más de 6 semanas en ninguna Institución, Órgano o Agencia Europea.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/>
              <a:t>Buen conocimiento de Inglés, Francés o Alemán (solicitan un C1 o C2).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s-ES"/>
              <a:t>Características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/>
              <a:t>5 meses de duración, empiezan en Marzo o en Octubre.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/>
              <a:t>Salario de 1252.68 € (+ gastos de desplazamiento).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/>
              <a:t>40h semanales.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ct val="79999"/>
              <a:buChar char="►"/>
            </a:pPr>
            <a:r>
              <a:rPr lang="es-ES"/>
              <a:t>Si lo solicitáis y os seleccionan, mandadme un correo a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/>
              <a:t>m</a:t>
            </a:r>
            <a:r>
              <a:rPr lang="es-ES" u="sng">
                <a:solidFill>
                  <a:schemeClr val="hlink"/>
                </a:solidFill>
                <a:hlinkClick r:id="rId3"/>
              </a:rPr>
              <a:t>iguel.herrero-collantes@eeas.europa.eu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/>
              <a:t>Hay tan pocos de IT que raramente consultamos las listas ☹ </a:t>
            </a:r>
            <a:endParaRPr/>
          </a:p>
          <a:p>
            <a:pPr marL="742950" lvl="1" indent="-285750" algn="l" rtl="0">
              <a:spcBef>
                <a:spcPts val="1000"/>
              </a:spcBef>
              <a:spcAft>
                <a:spcPts val="0"/>
              </a:spcAft>
              <a:buSzPct val="80000"/>
              <a:buChar char="►"/>
            </a:pPr>
            <a:r>
              <a:rPr lang="es-ES"/>
              <a:t>¡Tenemos todos los juguetes! Venid a probarlos!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s-ES"/>
              <a:t>Preguntas</a:t>
            </a:r>
            <a:endParaRPr/>
          </a:p>
        </p:txBody>
      </p:sp>
      <p:pic>
        <p:nvPicPr>
          <p:cNvPr id="210" name="Google Shape;210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142758" y="482975"/>
            <a:ext cx="5484600" cy="55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727</Words>
  <Application>Microsoft Office PowerPoint</Application>
  <PresentationFormat>Panorámica</PresentationFormat>
  <Paragraphs>88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Noto Sans Symbols</vt:lpstr>
      <vt:lpstr>Trebuchet MS</vt:lpstr>
      <vt:lpstr>Facet</vt:lpstr>
      <vt:lpstr>Instituciones Europeas</vt:lpstr>
      <vt:lpstr>Quien soy</vt:lpstr>
      <vt:lpstr>Las Instituciones Europeas</vt:lpstr>
      <vt:lpstr>Panorama tecnológico</vt:lpstr>
      <vt:lpstr>Como entrar en las instituciones</vt:lpstr>
      <vt:lpstr>Funcionarios</vt:lpstr>
      <vt:lpstr>Agentes contractuales y temporales</vt:lpstr>
      <vt:lpstr>Externo</vt:lpstr>
      <vt:lpstr>Becarios</vt:lpstr>
      <vt:lpstr>Becarios</vt:lpstr>
      <vt:lpstr>Preguntas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Instituciones Europeas</dc:title>
  <dc:creator>HERRERO COLLANTES Miguel (EEAS)</dc:creator>
  <cp:lastModifiedBy>María Sanz Honrado</cp:lastModifiedBy>
  <cp:revision>1</cp:revision>
  <dcterms:created xsi:type="dcterms:W3CDTF">2022-05-02T06:57:56Z</dcterms:created>
  <dcterms:modified xsi:type="dcterms:W3CDTF">2024-04-21T15:47:33Z</dcterms:modified>
</cp:coreProperties>
</file>